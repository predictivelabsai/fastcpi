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1" Type="http://schemas.openxmlformats.org/officeDocument/2006/relationships/viewProps" Target="viewProps.xml" /><Relationship Id="rId20" Type="http://schemas.openxmlformats.org/officeDocument/2006/relationships/presProps" Target="presProps.xml" /><Relationship Id="rId1" Type="http://schemas.openxmlformats.org/officeDocument/2006/relationships/slideMaster" Target="slideMasters/slideMaster1.xml" /><Relationship Id="rId23" Type="http://schemas.openxmlformats.org/officeDocument/2006/relationships/tableStyles" Target="tableStyles.xml" /><Relationship Id="rId2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FastCPI</a:t>
            </a:r>
          </a:p>
          <a:p>
            <a:pPr lvl="0" indent="0" marL="0">
              <a:spcBef>
                <a:spcPts val="3000"/>
              </a:spcBef>
              <a:buNone/>
            </a:pPr>
            <a:r>
              <a:rPr b="1"/>
              <a:t>User Guide — Source-backed Market Price Intelligence</a:t>
            </a:r>
          </a:p>
          <a:p>
            <a:pPr lvl="0" indent="0" marL="0">
              <a:buNone/>
            </a:pPr>
            <a:r>
              <a:rPr b="1"/>
              <a:t>Search · compare · monitor · verify</a:t>
            </a:r>
          </a:p>
          <a:p>
            <a:pPr lvl="0" indent="0" marL="0">
              <a:buNone/>
            </a:pPr>
            <a:r>
              <a:rPr/>
              <a:t>Goods and services · CPV 2008 · SKU / MPN / GTIN · ten EU markets</a:t>
            </a:r>
          </a:p>
          <a:p>
            <a:pPr lvl="0" indent="0" marL="0">
              <a:buNone/>
            </a:pPr>
            <a:r>
              <a:rPr/>
              <a:t>Version 1.0.0 · 9 September 2026 · </a:t>
            </a:r>
            <a:r>
              <a:rPr b="1"/>
              <a:t>cpi.fastsme.com</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Contents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Section</a:t>
                      </a:r>
                    </a:p>
                  </a:txBody>
                  <a:tcPr/>
                </a:tc>
                <a:tc>
                  <a:txBody>
                    <a:bodyPr/>
                    <a:lstStyle/>
                    <a:p>
                      <a:pPr lvl="0" indent="0" marL="0" algn="r">
                        <a:buNone/>
                      </a:pPr>
                      <a:r>
                        <a:rPr/>
                        <a:t>Pages</a:t>
                      </a:r>
                    </a:p>
                  </a:txBody>
                  <a:tcPr/>
                </a:tc>
                <a:tc>
                  <a:txBody>
                    <a:bodyPr/>
                    <a:lstStyle/>
                    <a:p>
                      <a:pPr lvl="0" indent="0" marL="0">
                        <a:buNone/>
                      </a:pPr>
                      <a:r>
                        <a:rPr/>
                        <a:t>What it covers</a:t>
                      </a:r>
                    </a:p>
                  </a:txBody>
                  <a:tcPr/>
                </a:tc>
              </a:tr>
              <a:tr h="0">
                <a:tc>
                  <a:txBody>
                    <a:bodyPr/>
                    <a:lstStyle/>
                    <a:p>
                      <a:pPr lvl="0" indent="0" marL="0">
                        <a:buNone/>
                      </a:pPr>
                      <a:r>
                        <a:rPr/>
                        <a:t>Start</a:t>
                      </a:r>
                    </a:p>
                  </a:txBody>
                </a:tc>
                <a:tc>
                  <a:txBody>
                    <a:bodyPr/>
                    <a:lstStyle/>
                    <a:p>
                      <a:pPr lvl="0" indent="0" marL="0" algn="r">
                        <a:buNone/>
                      </a:pPr>
                      <a:r>
                        <a:rPr/>
                        <a:t>3–5</a:t>
                      </a:r>
                    </a:p>
                  </a:txBody>
                </a:tc>
                <a:tc>
                  <a:txBody>
                    <a:bodyPr/>
                    <a:lstStyle/>
                    <a:p>
                      <a:pPr lvl="0" indent="0" marL="0">
                        <a:buNone/>
                      </a:pPr>
                      <a:r>
                        <a:rPr/>
                        <a:t>Product scope, account access and workspace</a:t>
                      </a:r>
                    </a:p>
                  </a:txBody>
                </a:tc>
              </a:tr>
              <a:tr h="0">
                <a:tc>
                  <a:txBody>
                    <a:bodyPr/>
                    <a:lstStyle/>
                    <a:p>
                      <a:pPr lvl="0" indent="0" marL="0">
                        <a:buNone/>
                      </a:pPr>
                      <a:r>
                        <a:rPr/>
                        <a:t>Ask &amp; verify</a:t>
                      </a:r>
                    </a:p>
                  </a:txBody>
                </a:tc>
                <a:tc>
                  <a:txBody>
                    <a:bodyPr/>
                    <a:lstStyle/>
                    <a:p>
                      <a:pPr lvl="0" indent="0" marL="0" algn="r">
                        <a:buNone/>
                      </a:pPr>
                      <a:r>
                        <a:rPr/>
                        <a:t>6–10</a:t>
                      </a:r>
                    </a:p>
                  </a:txBody>
                </a:tc>
                <a:tc>
                  <a:txBody>
                    <a:bodyPr/>
                    <a:lstStyle/>
                    <a:p>
                      <a:pPr lvl="0" indent="0" marL="0">
                        <a:buNone/>
                      </a:pPr>
                      <a:r>
                        <a:rPr/>
                        <a:t>English/French questions, source evidence and CPV</a:t>
                      </a:r>
                    </a:p>
                  </a:txBody>
                </a:tc>
              </a:tr>
              <a:tr h="0">
                <a:tc>
                  <a:txBody>
                    <a:bodyPr/>
                    <a:lstStyle/>
                    <a:p>
                      <a:pPr lvl="0" indent="0" marL="0">
                        <a:buNone/>
                      </a:pPr>
                      <a:r>
                        <a:rPr/>
                        <a:t>Monitor</a:t>
                      </a:r>
                    </a:p>
                  </a:txBody>
                </a:tc>
                <a:tc>
                  <a:txBody>
                    <a:bodyPr/>
                    <a:lstStyle/>
                    <a:p>
                      <a:pPr lvl="0" indent="0" marL="0" algn="r">
                        <a:buNone/>
                      </a:pPr>
                      <a:r>
                        <a:rPr/>
                        <a:t>11–14</a:t>
                      </a:r>
                    </a:p>
                  </a:txBody>
                </a:tc>
                <a:tc>
                  <a:txBody>
                    <a:bodyPr/>
                    <a:lstStyle/>
                    <a:p>
                      <a:pPr lvl="0" indent="0" marL="0">
                        <a:buNone/>
                      </a:pPr>
                      <a:r>
                        <a:rPr/>
                        <a:t>Watchlists, daily scans and market views</a:t>
                      </a:r>
                    </a:p>
                  </a:txBody>
                </a:tc>
              </a:tr>
              <a:tr h="0">
                <a:tc>
                  <a:txBody>
                    <a:bodyPr/>
                    <a:lstStyle/>
                    <a:p>
                      <a:pPr lvl="0" indent="0" marL="0">
                        <a:buNone/>
                      </a:pPr>
                      <a:r>
                        <a:rPr/>
                        <a:t>Integrate</a:t>
                      </a:r>
                    </a:p>
                  </a:txBody>
                </a:tc>
                <a:tc>
                  <a:txBody>
                    <a:bodyPr/>
                    <a:lstStyle/>
                    <a:p>
                      <a:pPr lvl="0" indent="0" marL="0" algn="r">
                        <a:buNone/>
                      </a:pPr>
                      <a:r>
                        <a:rPr/>
                        <a:t>15–17</a:t>
                      </a:r>
                    </a:p>
                  </a:txBody>
                </a:tc>
                <a:tc>
                  <a:txBody>
                    <a:bodyPr/>
                    <a:lstStyle/>
                    <a:p>
                      <a:pPr lvl="0" indent="0" marL="0">
                        <a:buNone/>
                      </a:pPr>
                      <a:r>
                        <a:rPr/>
                        <a:t>REST API, developer docs and scoped keys</a:t>
                      </a:r>
                    </a:p>
                  </a:txBody>
                </a:tc>
              </a:tr>
              <a:tr h="0">
                <a:tc>
                  <a:txBody>
                    <a:bodyPr/>
                    <a:lstStyle/>
                    <a:p>
                      <a:pPr lvl="0" indent="0" marL="0">
                        <a:buNone/>
                      </a:pPr>
                      <a:r>
                        <a:rPr/>
                        <a:t>Operate responsibly</a:t>
                      </a:r>
                    </a:p>
                  </a:txBody>
                </a:tc>
                <a:tc>
                  <a:txBody>
                    <a:bodyPr/>
                    <a:lstStyle/>
                    <a:p>
                      <a:pPr lvl="0" indent="0" marL="0" algn="r">
                        <a:buNone/>
                      </a:pPr>
                      <a:r>
                        <a:rPr/>
                        <a:t>18</a:t>
                      </a:r>
                    </a:p>
                  </a:txBody>
                </a:tc>
                <a:tc>
                  <a:txBody>
                    <a:bodyPr/>
                    <a:lstStyle/>
                    <a:p>
                      <a:pPr lvl="0" indent="0" marL="0">
                        <a:buNone/>
                      </a:pPr>
                      <a:r>
                        <a:rPr/>
                        <a:t>Coverage limits and a practical workflow</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Start</a:t>
            </a:r>
          </a:p>
          <a:p>
            <a:pPr lvl="0" indent="0" marL="0">
              <a:buNone/>
            </a:pPr>
            <a:r>
              <a:rPr/>
              <a:t>Orient your team around evidence that can be opened, dated and reviewed—not an unsupported “best price” claim.</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FastCPI at a glance</a:t>
            </a:r>
          </a:p>
        </p:txBody>
      </p:sp>
      <p:pic>
        <p:nvPicPr>
          <p:cNvPr descr="../screenshots/01-english-landing.png" id="0" name="Picture 1"/>
          <p:cNvPicPr>
            <a:picLocks noGrp="1" noChangeAspect="1"/>
          </p:cNvPicPr>
          <p:nvPr/>
        </p:nvPicPr>
        <p:blipFill>
          <a:blip r:embed="rId2"/>
          <a:stretch>
            <a:fillRect/>
          </a:stretch>
        </p:blipFill>
        <p:spPr bwMode="auto">
          <a:xfrm>
            <a:off x="22606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English landing page</a:t>
            </a:r>
          </a:p>
        </p:txBody>
      </p:sp>
      <p:sp>
        <p:nvSpPr>
          <p:cNvPr id="3" name="Content Placeholder 2"/>
          <p:cNvSpPr>
            <a:spLocks noGrp="1"/>
          </p:cNvSpPr>
          <p:nvPr>
            <p:ph idx="1"/>
          </p:nvPr>
        </p:nvSpPr>
        <p:spPr/>
        <p:txBody>
          <a:bodyPr/>
          <a:lstStyle/>
          <a:p>
            <a:pPr lvl="0" indent="0" marL="0">
              <a:buNone/>
            </a:pPr>
            <a:r>
              <a:rPr/>
              <a:t>FastCPI discovers public pages with Exa, fetches candidate pages, extracts attributable prices and preserves the source URL, capture time, extraction method and warnings.</a:t>
            </a:r>
          </a:p>
          <a:p>
            <a:pPr lvl="0" indent="0" marL="0">
              <a:buNone/>
            </a:pPr>
            <a:r>
              <a:rPr/>
              <a:t>Use it for public B2B market observation across Germany, Denmark, Estonia, Finland, France, Lithuania, Latvia, the Netherlands, Poland and Sweden.</a:t>
            </a:r>
          </a:p>
          <a:p>
            <a:pPr lvl="0"/>
            <a:r>
              <a:rPr/>
              <a:t>Search in plain language or with CPV, SKU, MPN and GTIN identifiers.</a:t>
            </a:r>
          </a:p>
          <a:p>
            <a:pPr lvl="0"/>
            <a:r>
              <a:rPr/>
              <a:t>Compare only offers whose units and commercial terms are compatible.</a:t>
            </a:r>
          </a:p>
          <a:p>
            <a:pPr lvl="0"/>
            <a:r>
              <a:rPr/>
              <a:t>Turn a recurring requirement into a user-specific daily watch.</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Sign in and choose a language</a:t>
            </a:r>
          </a:p>
        </p:txBody>
      </p:sp>
      <p:pic>
        <p:nvPicPr>
          <p:cNvPr descr="../screenshots/09-french-signup.png" id="0" name="Picture 1"/>
          <p:cNvPicPr>
            <a:picLocks noGrp="1" noChangeAspect="1"/>
          </p:cNvPicPr>
          <p:nvPr/>
        </p:nvPicPr>
        <p:blipFill>
          <a:blip r:embed="rId2"/>
          <a:stretch>
            <a:fillRect/>
          </a:stretch>
        </p:blipFill>
        <p:spPr bwMode="auto">
          <a:xfrm>
            <a:off x="22606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French signup page</a:t>
            </a:r>
          </a:p>
        </p:txBody>
      </p:sp>
      <p:sp>
        <p:nvSpPr>
          <p:cNvPr id="3" name="Content Placeholder 2"/>
          <p:cNvSpPr>
            <a:spLocks noGrp="1"/>
          </p:cNvSpPr>
          <p:nvPr>
            <p:ph idx="1"/>
          </p:nvPr>
        </p:nvSpPr>
        <p:spPr/>
        <p:txBody>
          <a:bodyPr/>
          <a:lstStyle/>
          <a:p>
            <a:pPr lvl="0" indent="0" marL="0">
              <a:buNone/>
            </a:pPr>
            <a:r>
              <a:rPr/>
              <a:t>Open </a:t>
            </a:r>
            <a:r>
              <a:rPr b="1"/>
              <a:t>https://cpi.fastsme.com</a:t>
            </a:r>
            <a:r>
              <a:rPr/>
              <a:t> and choose </a:t>
            </a:r>
            <a:r>
              <a:rPr b="1"/>
              <a:t>Sign In</a:t>
            </a:r>
            <a:r>
              <a:rPr/>
              <a:t>. Google and verified email signup are available without an invitation. Email users confirm ownership before entering the app.</a:t>
            </a:r>
          </a:p>
          <a:p>
            <a:pPr lvl="0" indent="0" marL="0">
              <a:buNone/>
            </a:pPr>
            <a:r>
              <a:rPr/>
              <a:t>The language control appears on both the landing page and inside the authenticated left pane, so you can switch later without signing out. French covers the complete active workspace: chat, agents, evidence, watchlists, daily scan, market overview and account/API-key controls.</a:t>
            </a:r>
          </a:p>
          <a:p>
            <a:pPr lvl="0" indent="0" marL="0">
              <a:buNone/>
            </a:pPr>
            <a:r>
              <a:rPr/>
              <a:t>The interface locale does not force the assistant’s language. Each answer follows the language of the latest question.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Ask &amp; verify</a:t>
            </a:r>
          </a:p>
          <a:p>
            <a:pPr lvl="0" indent="0" marL="0">
              <a:buNone/>
            </a:pPr>
            <a:r>
              <a:rPr/>
              <a:t>Ask naturally, keep identifiers exact, and open the cited page before using a price in a sourcing decision.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Ask for prices in English</a:t>
            </a:r>
          </a:p>
        </p:txBody>
      </p:sp>
      <p:pic>
        <p:nvPicPr>
          <p:cNvPr descr="../screenshots/02-english-conversation.png" id="0" name="Picture 1"/>
          <p:cNvPicPr>
            <a:picLocks noGrp="1" noChangeAspect="1"/>
          </p:cNvPicPr>
          <p:nvPr/>
        </p:nvPicPr>
        <p:blipFill>
          <a:blip r:embed="rId2"/>
          <a:stretch>
            <a:fillRect/>
          </a:stretch>
        </p:blipFill>
        <p:spPr bwMode="auto">
          <a:xfrm>
            <a:off x="22606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English price conversation</a:t>
            </a:r>
          </a:p>
        </p:txBody>
      </p:sp>
      <p:sp>
        <p:nvSpPr>
          <p:cNvPr id="3" name="Content Placeholder 2"/>
          <p:cNvSpPr>
            <a:spLocks noGrp="1"/>
          </p:cNvSpPr>
          <p:nvPr>
            <p:ph idx="1"/>
          </p:nvPr>
        </p:nvSpPr>
        <p:spPr/>
        <p:txBody>
          <a:bodyPr/>
          <a:lstStyle/>
          <a:p>
            <a:pPr lvl="0" indent="0" marL="0">
              <a:buNone/>
            </a:pPr>
            <a:r>
              <a:rPr/>
              <a:t>Describe the required good or service and name the market. Add a precise identifier, pack size, unit, VAT basis, delivery destination or contract period when you know it.</a:t>
            </a:r>
          </a:p>
          <a:p>
            <a:pPr lvl="0" indent="0" marL="0">
              <a:buNone/>
            </a:pPr>
            <a:r>
              <a:rPr/>
              <a:t>The middle pane contains the full answer and limitations. The right pane opens to a compact set of top hits: at most three extracted observations and five discovery-only sources. Every source is clickable; the evidence pane does not repeat the assistant’s full narrative.</a:t>
            </a:r>
          </a:p>
          <a:p>
            <a:pPr lvl="0" indent="0" marL="0">
              <a:buNone/>
            </a:pPr>
            <a:r>
              <a:rPr/>
              <a:t>“Lowest” always means </a:t>
            </a:r>
            <a:r>
              <a:rPr b="1"/>
              <a:t>lowest observed comparable price in the returned public-source sample</a:t>
            </a:r>
            <a:r>
              <a:rPr/>
              <a: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Ask in French</a:t>
            </a:r>
          </a:p>
        </p:txBody>
      </p:sp>
      <p:pic>
        <p:nvPicPr>
          <p:cNvPr descr="../screenshots/03-french-conversation.png" id="0" name="Picture 1"/>
          <p:cNvPicPr>
            <a:picLocks noGrp="1" noChangeAspect="1"/>
          </p:cNvPicPr>
          <p:nvPr/>
        </p:nvPicPr>
        <p:blipFill>
          <a:blip r:embed="rId2"/>
          <a:stretch>
            <a:fillRect/>
          </a:stretch>
        </p:blipFill>
        <p:spPr bwMode="auto">
          <a:xfrm>
            <a:off x="22606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French price conversation</a:t>
            </a:r>
          </a:p>
        </p:txBody>
      </p:sp>
      <p:sp>
        <p:nvSpPr>
          <p:cNvPr id="3" name="Content Placeholder 2"/>
          <p:cNvSpPr>
            <a:spLocks noGrp="1"/>
          </p:cNvSpPr>
          <p:nvPr>
            <p:ph idx="1"/>
          </p:nvPr>
        </p:nvSpPr>
        <p:spPr/>
        <p:txBody>
          <a:bodyPr/>
          <a:lstStyle/>
          <a:p>
            <a:pPr lvl="0" indent="0" marL="0">
              <a:buNone/>
            </a:pPr>
            <a:r>
              <a:rPr/>
              <a:t>Ask directly in French—for example, </a:t>
            </a:r>
            <a:r>
              <a:rPr i="1"/>
              <a:t>« Montrez-moi les prix observés les plus bas pour le toner HP W2210A en Allemagne. »</a:t>
            </a:r>
            <a:r>
              <a:rPr/>
              <a:t> FastCPI sends the original question to the agent and search tools; it does not translate or rewrite the query first.</a:t>
            </a:r>
          </a:p>
          <a:p>
            <a:pPr lvl="0" indent="0" marL="0">
              <a:buNone/>
            </a:pPr>
            <a:r>
              <a:rPr/>
              <a:t>When no attributable in-market price can be extracted, the answer says so. Candidate pages remain visible as </a:t>
            </a:r>
            <a:r>
              <a:rPr b="1"/>
              <a:t>Découverte uniquement</a:t>
            </a:r>
            <a:r>
              <a:rPr/>
              <a:t> and must not be treated as observed prices.</a:t>
            </a:r>
          </a:p>
          <a:p>
            <a:pPr lvl="0" indent="0" marL="0">
              <a:buNone/>
            </a:pPr>
            <a:r>
              <a:rPr/>
              <a:t>This distinction is useful: an honest empty result is safer than turning a search snippet, an out-of-market offer or an incompatible substitute into a benchmark.</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Read provenance and comparability</a:t>
            </a:r>
          </a:p>
        </p:txBody>
      </p:sp>
      <p:sp>
        <p:nvSpPr>
          <p:cNvPr id="3" name="Content Placeholder 2"/>
          <p:cNvSpPr>
            <a:spLocks noGrp="1"/>
          </p:cNvSpPr>
          <p:nvPr>
            <p:ph idx="1"/>
          </p:nvPr>
        </p:nvSpPr>
        <p:spPr/>
        <p:txBody>
          <a:bodyPr/>
          <a:lstStyle/>
          <a:p>
            <a:pPr lvl="0" indent="0" marL="0">
              <a:buNone/>
            </a:pPr>
            <a:r>
              <a:rPr/>
              <a:t>Each observed offer should provide:</a:t>
            </a:r>
          </a:p>
          <a:p>
            <a:pPr lvl="0" indent="-342900" marL="342900">
              <a:buAutoNum type="arabicPeriod"/>
            </a:pPr>
            <a:r>
              <a:rPr/>
              <a:t>Supplier/page title and clickable HTTP(S) URL.</a:t>
            </a:r>
          </a:p>
          <a:p>
            <a:pPr lvl="0" indent="-342900" marL="342900">
              <a:buAutoNum type="arabicPeriod"/>
            </a:pPr>
            <a:r>
              <a:rPr/>
              <a:t>Original amount, currency and advertised unit.</a:t>
            </a:r>
          </a:p>
          <a:p>
            <a:pPr lvl="0" indent="-342900" marL="342900">
              <a:buAutoNum type="arabicPeriod"/>
            </a:pPr>
            <a:r>
              <a:rPr/>
              <a:t>Comparable amount/unit when normalization is supportable.</a:t>
            </a:r>
          </a:p>
          <a:p>
            <a:pPr lvl="0" indent="-342900" marL="342900">
              <a:buAutoNum type="arabicPeriod"/>
            </a:pPr>
            <a:r>
              <a:rPr/>
              <a:t>Capture time, extraction method, confidence and warnings.</a:t>
            </a:r>
          </a:p>
          <a:p>
            <a:pPr lvl="0" indent="-342900" marL="342900">
              <a:buAutoNum type="arabicPeriod"/>
            </a:pPr>
            <a:r>
              <a:rPr/>
              <a:t>Market and a coverage statement.</a:t>
            </a:r>
          </a:p>
          <a:p>
            <a:pPr lvl="0" indent="0" marL="0">
              <a:buNone/>
            </a:pPr>
            <a:r>
              <a:rPr/>
              <a:t>Do not rank items when VAT, shipping, MOQ, pack quantity, product variant or service scope is unresolved. Open the source and verify that it is current and deliverable to the intended market.</a:t>
            </a:r>
          </a:p>
          <a:p>
            <a:pPr lvl="0" indent="0" marL="1270000">
              <a:buNone/>
            </a:pPr>
            <a:r>
              <a:rPr sz="2000"/>
              <a:t>Discovery-only means “potentially relevant page found”; it does not mean FastCPI observed a usable price there.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Search CPV categories</a:t>
            </a:r>
          </a:p>
        </p:txBody>
      </p:sp>
      <p:sp>
        <p:nvSpPr>
          <p:cNvPr id="3" name="Content Placeholder 2"/>
          <p:cNvSpPr>
            <a:spLocks noGrp="1"/>
          </p:cNvSpPr>
          <p:nvPr>
            <p:ph idx="1"/>
          </p:nvPr>
        </p:nvSpPr>
        <p:spPr/>
        <p:txBody>
          <a:bodyPr/>
          <a:lstStyle/>
          <a:p>
            <a:pPr lvl="0" indent="0" marL="0">
              <a:buNone/>
            </a:pPr>
            <a:r>
              <a:rPr/>
              <a:t>Enter an eight-digit Common Procurement Vocabulary code, with or without its check digit, or ask for a CPV label in plain language. Broad CPV divisions expand through their imported CPV Version 2008 descendants before market searching.</a:t>
            </a:r>
          </a:p>
          <a:p>
            <a:pPr lvl="0" indent="0" marL="0">
              <a:buNone/>
            </a:pPr>
            <a:r>
              <a:rPr/>
              <a:t>Useful patterns:</a:t>
            </a:r>
          </a:p>
          <a:p>
            <a:pPr lvl="0"/>
            <a:r>
              <a:rPr>
                <a:latin typeface="Courier"/>
              </a:rPr>
              <a:t>CPV 30100000-0 and descendants in France</a:t>
            </a:r>
          </a:p>
          <a:p>
            <a:pPr lvl="0"/>
            <a:r>
              <a:rPr>
                <a:latin typeface="Courier"/>
              </a:rPr>
              <a:t>Trouver les descendants CPV des machines de bureau</a:t>
            </a:r>
          </a:p>
          <a:p>
            <a:pPr lvl="0"/>
            <a:r>
              <a:rPr>
                <a:latin typeface="Courier"/>
              </a:rPr>
              <a:t>Compare CPV 72611000 hourly support in Estonia and Latvia</a:t>
            </a:r>
          </a:p>
          <a:p>
            <a:pPr lvl="0" indent="0" marL="0">
              <a:buNone/>
            </a:pPr>
            <a:r>
              <a:rPr/>
              <a:t>Treat a broad-division result as category reconnaissance. Narrow the description, unit and commercial terms before making a supplier comparison.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Monitor</a:t>
            </a:r>
          </a:p>
          <a:p>
            <a:pPr lvl="0" indent="0" marL="0">
              <a:buNone/>
            </a:pPr>
            <a:r>
              <a:rPr/>
              <a:t>Convert recurring sourcing requirements into daily checks and review both changes and evidence.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Create and manage a watch</a:t>
            </a:r>
          </a:p>
        </p:txBody>
      </p:sp>
      <p:pic>
        <p:nvPicPr>
          <p:cNvPr descr="../screenshots/07-french-watchlists.png" id="0" name="Picture 1"/>
          <p:cNvPicPr>
            <a:picLocks noGrp="1" noChangeAspect="1"/>
          </p:cNvPicPr>
          <p:nvPr/>
        </p:nvPicPr>
        <p:blipFill>
          <a:blip r:embed="rId2"/>
          <a:stretch>
            <a:fillRect/>
          </a:stretch>
        </p:blipFill>
        <p:spPr bwMode="auto">
          <a:xfrm>
            <a:off x="22606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French watchlists</a:t>
            </a:r>
          </a:p>
        </p:txBody>
      </p:sp>
      <p:sp>
        <p:nvSpPr>
          <p:cNvPr id="3" name="Content Placeholder 2"/>
          <p:cNvSpPr>
            <a:spLocks noGrp="1"/>
          </p:cNvSpPr>
          <p:nvPr>
            <p:ph idx="1"/>
          </p:nvPr>
        </p:nvSpPr>
        <p:spPr/>
        <p:txBody>
          <a:bodyPr/>
          <a:lstStyle/>
          <a:p>
            <a:pPr lvl="0" indent="0" marL="0">
              <a:buNone/>
            </a:pPr>
            <a:r>
              <a:rPr/>
              <a:t>Open </a:t>
            </a:r>
            <a:r>
              <a:rPr b="1"/>
              <a:t>Listes de suivi / Watchlists</a:t>
            </a:r>
            <a:r>
              <a:rPr/>
              <a:t>, name the requirement, enter a description or identifier, choose a market and optionally set a target price. New accounts receive three examples:</a:t>
            </a:r>
          </a:p>
          <a:p>
            <a:pPr lvl="0"/>
            <a:r>
              <a:rPr/>
              <a:t>A4 office paper in France;</a:t>
            </a:r>
          </a:p>
          <a:p>
            <a:pPr lvl="0"/>
            <a:r>
              <a:rPr/>
              <a:t>HP W2210A toner in Germany;</a:t>
            </a:r>
          </a:p>
          <a:p>
            <a:pPr lvl="0"/>
            <a:r>
              <a:rPr/>
              <a:t>hourly technical computer support (CPV 72611000) in Estonia.</a:t>
            </a:r>
          </a:p>
          <a:p>
            <a:pPr lvl="0" indent="0" marL="0">
              <a:buNone/>
            </a:pPr>
            <a:r>
              <a:rPr/>
              <a:t>Starter watches are user-specific. Deleting one is respected; it is not recreated on every login. The current browser UI creates and lists watches. Edit, pause, delete and run-now controls are the next monitoring slice; those mutations already exist in the REST API where noted in OpenAPI.</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Review the Daily Scan</a:t>
            </a:r>
          </a:p>
        </p:txBody>
      </p:sp>
      <p:pic>
        <p:nvPicPr>
          <p:cNvPr descr="../screenshots/05-french-daily-scan.png" id="0" name="Picture 1"/>
          <p:cNvPicPr>
            <a:picLocks noGrp="1" noChangeAspect="1"/>
          </p:cNvPicPr>
          <p:nvPr/>
        </p:nvPicPr>
        <p:blipFill>
          <a:blip r:embed="rId2"/>
          <a:stretch>
            <a:fillRect/>
          </a:stretch>
        </p:blipFill>
        <p:spPr bwMode="auto">
          <a:xfrm>
            <a:off x="22606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French daily scan</a:t>
            </a:r>
          </a:p>
        </p:txBody>
      </p:sp>
      <p:sp>
        <p:nvSpPr>
          <p:cNvPr id="3" name="Content Placeholder 2"/>
          <p:cNvSpPr>
            <a:spLocks noGrp="1"/>
          </p:cNvSpPr>
          <p:nvPr>
            <p:ph idx="1"/>
          </p:nvPr>
        </p:nvSpPr>
        <p:spPr/>
        <p:txBody>
          <a:bodyPr/>
          <a:lstStyle/>
          <a:p>
            <a:pPr lvl="0" indent="0" marL="0">
              <a:buNone/>
            </a:pPr>
            <a:r>
              <a:rPr/>
              <a:t>Daily Scan shows active-watch count, 24-hour observations and threshold events. Each watch shows its latest source-backed observation or </a:t>
            </a:r>
            <a:r>
              <a:rPr b="1"/>
              <a:t>Pending first scan / Première analyse en attente</a:t>
            </a:r>
            <a:r>
              <a:rPr/>
              <a:t>.</a:t>
            </a:r>
          </a:p>
          <a:p>
            <a:pPr lvl="0" indent="0" marL="0">
              <a:buNone/>
            </a:pPr>
            <a:r>
              <a:rPr/>
              <a:t>Threshold events carry the source URL that caused the alert. Email alerts are sent only when the watch enables notification. Use the page as a morning exception queue: inspect missing scans, review price movements, open evidence, then decide whether procurement action is warranted.</a:t>
            </a:r>
          </a:p>
          <a:p>
            <a:pPr lvl="0" indent="0" marL="0">
              <a:buNone/>
            </a:pPr>
            <a:r>
              <a:rPr/>
              <a:t>The pilot scheduler currently runs inside the application process. Durable queued scan runs, leases, retry state, domain throttling and cost quotas are the priority next slice.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Use the market overview</a:t>
            </a:r>
          </a:p>
        </p:txBody>
      </p:sp>
      <p:pic>
        <p:nvPicPr>
          <p:cNvPr descr="../screenshots/06-french-market-overview.png" id="0" name="Picture 1"/>
          <p:cNvPicPr>
            <a:picLocks noGrp="1" noChangeAspect="1"/>
          </p:cNvPicPr>
          <p:nvPr/>
        </p:nvPicPr>
        <p:blipFill>
          <a:blip r:embed="rId2"/>
          <a:stretch>
            <a:fillRect/>
          </a:stretch>
        </p:blipFill>
        <p:spPr bwMode="auto">
          <a:xfrm>
            <a:off x="22606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French market overview</a:t>
            </a:r>
          </a:p>
        </p:txBody>
      </p:sp>
      <p:sp>
        <p:nvSpPr>
          <p:cNvPr id="3" name="Content Placeholder 2"/>
          <p:cNvSpPr>
            <a:spLocks noGrp="1"/>
          </p:cNvSpPr>
          <p:nvPr>
            <p:ph idx="1"/>
          </p:nvPr>
        </p:nvSpPr>
        <p:spPr/>
        <p:txBody>
          <a:bodyPr/>
          <a:lstStyle/>
          <a:p>
            <a:pPr lvl="0" indent="0" marL="0">
              <a:buNone/>
            </a:pPr>
            <a:r>
              <a:rPr/>
              <a:t>The default </a:t>
            </a:r>
            <a:r>
              <a:rPr b="1"/>
              <a:t>Within one country / Dans un même pays</a:t>
            </a:r>
            <a:r>
              <a:rPr/>
              <a:t> view starts with one selected catalogue item and one country. It compares the latest comparable observation for each distinct supplier offer, showing the lowest price, median, observed spread and clickable source evidence. This is the primary procurement review because prices from competing suppliers in the same country are usually more directly comparable.</a:t>
            </a:r>
          </a:p>
          <a:p>
            <a:pPr lvl="0" indent="0" marL="0">
              <a:buNone/>
            </a:pPr>
            <a:r>
              <a:rPr/>
              <a:t>Use the item and country selectors to change the benchmark. Open </a:t>
            </a:r>
            <a:r>
              <a:rPr b="1"/>
              <a:t>Across the EU / Dans l’Union européenne</a:t>
            </a:r>
            <a:r>
              <a:rPr/>
              <a:t> only as a secondary review: it plots each observed country’s median and price range, then preserves the underlying supplier links below the chart.</a:t>
            </a:r>
          </a:p>
          <a:p>
            <a:pPr lvl="0" indent="0" marL="0">
              <a:buNone/>
            </a:pPr>
            <a:r>
              <a:rPr/>
              <a:t>Repeated captures of the same offer do not receive extra weight: the dashboard uses its latest observation. Read every result with its source count, freshness, unit, VAT/delivery warnings and coverage note. The spread remains an observed web sample—not an official inflation measure or a claim of complete market coverage.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Integrate</a:t>
            </a:r>
          </a:p>
          <a:p>
            <a:pPr lvl="0" indent="0" marL="0">
              <a:buNone/>
            </a:pPr>
            <a:r>
              <a:rPr/>
              <a:t>Use documented, scoped interfaces so external systems receive the same provenance contract as the application.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Developer portal and OpenAPI</a:t>
            </a:r>
          </a:p>
        </p:txBody>
      </p:sp>
      <p:pic>
        <p:nvPicPr>
          <p:cNvPr descr="../screenshots/08-developers-api.png" id="0" name="Picture 1"/>
          <p:cNvPicPr>
            <a:picLocks noGrp="1" noChangeAspect="1"/>
          </p:cNvPicPr>
          <p:nvPr/>
        </p:nvPicPr>
        <p:blipFill>
          <a:blip r:embed="rId2"/>
          <a:stretch>
            <a:fillRect/>
          </a:stretch>
        </p:blipFill>
        <p:spPr bwMode="auto">
          <a:xfrm>
            <a:off x="22606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Developer portal</a:t>
            </a:r>
          </a:p>
        </p:txBody>
      </p:sp>
      <p:sp>
        <p:nvSpPr>
          <p:cNvPr id="3" name="Content Placeholder 2"/>
          <p:cNvSpPr>
            <a:spLocks noGrp="1"/>
          </p:cNvSpPr>
          <p:nvPr>
            <p:ph idx="1"/>
          </p:nvPr>
        </p:nvSpPr>
        <p:spPr/>
        <p:txBody>
          <a:bodyPr/>
          <a:lstStyle/>
          <a:p>
            <a:pPr lvl="0" indent="0" marL="0">
              <a:buNone/>
            </a:pPr>
            <a:r>
              <a:rPr/>
              <a:t>Open </a:t>
            </a:r>
            <a:r>
              <a:rPr b="1"/>
              <a:t>https://cpi.fastsme.com/developers</a:t>
            </a:r>
            <a:r>
              <a:rPr/>
              <a:t> for the resource guide and links to:</a:t>
            </a:r>
          </a:p>
          <a:p>
            <a:pPr lvl="0"/>
            <a:r>
              <a:rPr/>
              <a:t>Swagger UI at </a:t>
            </a:r>
            <a:r>
              <a:rPr>
                <a:latin typeface="Courier"/>
              </a:rPr>
              <a:t>/api/docs</a:t>
            </a:r>
            <a:r>
              <a:rPr/>
              <a:t>;</a:t>
            </a:r>
          </a:p>
          <a:p>
            <a:pPr lvl="0"/>
            <a:r>
              <a:rPr/>
              <a:t>ReDoc at </a:t>
            </a:r>
            <a:r>
              <a:rPr>
                <a:latin typeface="Courier"/>
              </a:rPr>
              <a:t>/api/redoc</a:t>
            </a:r>
            <a:r>
              <a:rPr/>
              <a:t>;</a:t>
            </a:r>
          </a:p>
          <a:p>
            <a:pPr lvl="0"/>
            <a:r>
              <a:rPr/>
              <a:t>versioned OpenAPI at </a:t>
            </a:r>
            <a:r>
              <a:rPr>
                <a:latin typeface="Courier"/>
              </a:rPr>
              <a:t>/api/openapi/v1.json</a:t>
            </a:r>
            <a:r>
              <a:rPr/>
              <a:t>;</a:t>
            </a:r>
          </a:p>
          <a:p>
            <a:pPr lvl="0"/>
            <a:r>
              <a:rPr/>
              <a:t>runtime and compatibility schemas.</a:t>
            </a:r>
          </a:p>
          <a:p>
            <a:pPr lvl="0" indent="0" marL="0">
              <a:buNone/>
            </a:pPr>
            <a:r>
              <a:rPr/>
              <a:t>Core resources search persisted observations, run live observations, resolve CPV descendants, read market coverage and indices, manage user watchlists and access catalog items. Use </a:t>
            </a:r>
            <a:r>
              <a:rPr>
                <a:latin typeface="Courier"/>
              </a:rPr>
              <a:t>GET /items/{item_id}/price-variance?market=FR</a:t>
            </a:r>
            <a:r>
              <a:rPr/>
              <a:t> for the same latest-offer country benchmark and secondary EU context shown by the dashboard. Live discovery requires a stronger scope than read-only access.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Scoped keys and the MCP path</a:t>
            </a:r>
          </a:p>
        </p:txBody>
      </p:sp>
      <p:pic>
        <p:nvPicPr>
          <p:cNvPr descr="../screenshots/10-french-account-api.png" id="0" name="Picture 1"/>
          <p:cNvPicPr>
            <a:picLocks noGrp="1" noChangeAspect="1"/>
          </p:cNvPicPr>
          <p:nvPr/>
        </p:nvPicPr>
        <p:blipFill>
          <a:blip r:embed="rId2"/>
          <a:stretch>
            <a:fillRect/>
          </a:stretch>
        </p:blipFill>
        <p:spPr bwMode="auto">
          <a:xfrm>
            <a:off x="22606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French account and API keys</a:t>
            </a:r>
          </a:p>
        </p:txBody>
      </p:sp>
      <p:sp>
        <p:nvSpPr>
          <p:cNvPr id="3" name="Content Placeholder 2"/>
          <p:cNvSpPr>
            <a:spLocks noGrp="1"/>
          </p:cNvSpPr>
          <p:nvPr>
            <p:ph idx="1"/>
          </p:nvPr>
        </p:nvSpPr>
        <p:spPr/>
        <p:txBody>
          <a:bodyPr/>
          <a:lstStyle/>
          <a:p>
            <a:pPr lvl="0" indent="0" marL="0">
              <a:buNone/>
            </a:pPr>
            <a:r>
              <a:rPr/>
              <a:t>Create an API key under </a:t>
            </a:r>
            <a:r>
              <a:rPr b="1"/>
              <a:t>Account &amp; API Keys</a:t>
            </a:r>
            <a:r>
              <a:rPr/>
              <a:t>. The full </a:t>
            </a:r>
            <a:r>
              <a:rPr>
                <a:latin typeface="Courier"/>
              </a:rPr>
              <a:t>fcpi_…</a:t>
            </a:r>
            <a:r>
              <a:rPr/>
              <a:t> value is shown once; store it in a secret manager and send it in the </a:t>
            </a:r>
            <a:r>
              <a:rPr>
                <a:latin typeface="Courier"/>
              </a:rPr>
              <a:t>X-API-Key</a:t>
            </a:r>
            <a:r>
              <a:rPr/>
              <a:t> header. Revoke and rotate keys independently of your Google/password session.</a:t>
            </a:r>
          </a:p>
          <a:p>
            <a:pPr lvl="0" indent="0" marL="0">
              <a:buNone/>
            </a:pPr>
            <a:r>
              <a:rPr/>
              <a:t>The planned MCP alpha is read-only: observation search, CPV lookup, market overview, indices, catalog items and methodology resources over </a:t>
            </a:r>
            <a:r>
              <a:rPr>
                <a:latin typeface="Courier"/>
              </a:rPr>
              <a:t>POST /mcp</a:t>
            </a:r>
            <a:r>
              <a:rPr/>
              <a:t>. It will reuse FastCPI’s service layer, tenant isolation and provenance schemas. OAuth protected-resource discovery and consent precede any live crawl or watchlist write tool.</a:t>
            </a:r>
          </a:p>
          <a:p>
            <a:pPr lvl="0" indent="0" marL="0">
              <a:buNone/>
            </a:pPr>
            <a:r>
              <a:rPr/>
              <a:t>See </a:t>
            </a:r>
            <a:r>
              <a:rPr>
                <a:latin typeface="Courier"/>
              </a:rPr>
              <a:t>docs/ROADMAP.md</a:t>
            </a:r>
            <a:r>
              <a:rPr/>
              <a:t> for the complete MCP surface and staged acceptance criteria.</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safe weekly operating rhythm</a:t>
            </a:r>
          </a:p>
        </p:txBody>
      </p:sp>
      <p:sp>
        <p:nvSpPr>
          <p:cNvPr id="3" name="Content Placeholder 2"/>
          <p:cNvSpPr>
            <a:spLocks noGrp="1"/>
          </p:cNvSpPr>
          <p:nvPr>
            <p:ph idx="1"/>
          </p:nvPr>
        </p:nvSpPr>
        <p:spPr/>
        <p:txBody>
          <a:bodyPr/>
          <a:lstStyle/>
          <a:p>
            <a:pPr lvl="0" indent="-342900" marL="342900">
              <a:buAutoNum type="arabicPeriod"/>
            </a:pPr>
            <a:r>
              <a:rPr b="1"/>
              <a:t>Specify:</a:t>
            </a:r>
            <a:r>
              <a:rPr/>
              <a:t> capture exact identity, unit, quantity, VAT, delivery, MOQ and service period.</a:t>
            </a:r>
          </a:p>
          <a:p>
            <a:pPr lvl="0" indent="-342900" marL="342900">
              <a:buAutoNum type="arabicPeriod"/>
            </a:pPr>
            <a:r>
              <a:rPr b="1"/>
              <a:t>Observe:</a:t>
            </a:r>
            <a:r>
              <a:rPr/>
              <a:t> search the correct market and separate extracted evidence from discovery-only pages.</a:t>
            </a:r>
          </a:p>
          <a:p>
            <a:pPr lvl="0" indent="-342900" marL="342900">
              <a:buAutoNum type="arabicPeriod"/>
            </a:pPr>
            <a:r>
              <a:rPr b="1"/>
              <a:t>Verify:</a:t>
            </a:r>
            <a:r>
              <a:rPr/>
              <a:t> open every cited URL and exclude stale, substituted or geographically invalid offers.</a:t>
            </a:r>
          </a:p>
          <a:p>
            <a:pPr lvl="0" indent="-342900" marL="342900">
              <a:buAutoNum type="arabicPeriod"/>
            </a:pPr>
            <a:r>
              <a:rPr b="1"/>
              <a:t>Compare:</a:t>
            </a:r>
            <a:r>
              <a:rPr/>
              <a:t> rank only compatible terms; state sample count, capture time and coverage limits.</a:t>
            </a:r>
          </a:p>
          <a:p>
            <a:pPr lvl="0" indent="-342900" marL="342900">
              <a:buAutoNum type="arabicPeriod"/>
            </a:pPr>
            <a:r>
              <a:rPr b="1"/>
              <a:t>Monitor:</a:t>
            </a:r>
            <a:r>
              <a:rPr/>
              <a:t> save important requirements, review Daily Scan and investigate threshold events.</a:t>
            </a:r>
          </a:p>
          <a:p>
            <a:pPr lvl="0" indent="-342900" marL="342900">
              <a:buAutoNum type="arabicPeriod"/>
            </a:pPr>
            <a:r>
              <a:rPr b="1"/>
              <a:t>Export/integrate:</a:t>
            </a:r>
            <a:r>
              <a:rPr/>
              <a:t> use scoped keys and preserve provenance fields downstream.</a:t>
            </a:r>
          </a:p>
          <a:p>
            <a:pPr lvl="0" indent="0" marL="0">
              <a:buNone/>
            </a:pPr>
            <a:r>
              <a:rPr/>
              <a:t>Current gaps include JavaScript-only/PDF/quote-only sources, shallow supplier-specific parsers, incomplete pack/VAT/shipping/MOQ normalization and process-local scheduling. Report questionable evidence rather than silently treating it as comparable.</a:t>
            </a:r>
          </a:p>
          <a:p>
            <a:pPr lvl="0" indent="0" marL="0">
              <a:buNone/>
            </a:pPr>
            <a:r>
              <a:rPr b="1"/>
              <a:t>Support:</a:t>
            </a:r>
            <a:r>
              <a:rPr/>
              <a:t> use the Contact page. </a:t>
            </a:r>
            <a:r>
              <a:rPr b="1"/>
              <a:t>API:</a:t>
            </a:r>
            <a:r>
              <a:rPr/>
              <a:t> </a:t>
            </a:r>
            <a:r>
              <a:rPr>
                <a:latin typeface="Courier"/>
              </a:rPr>
              <a:t>/developers</a:t>
            </a:r>
            <a:r>
              <a:rPr/>
              <a:t>. </a:t>
            </a:r>
            <a:r>
              <a:rPr b="1"/>
              <a:t>Roadmap:</a:t>
            </a:r>
            <a:r>
              <a:rPr/>
              <a:t> </a:t>
            </a:r>
            <a:r>
              <a:rPr>
                <a:latin typeface="Courier"/>
              </a:rPr>
              <a:t>docs/ROADMAP.md</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2026-09-09T06:12:41Z</dcterms:created>
  <dcterms:modified xsi:type="dcterms:W3CDTF">2026-09-09T06:12:41Z</dcterms:modified>
</cp:coreProperties>
</file>

<file path=docProps/custom.xml><?xml version="1.0" encoding="utf-8"?>
<Properties xmlns="http://schemas.openxmlformats.org/officeDocument/2006/custom-properties" xmlns:vt="http://schemas.openxmlformats.org/officeDocument/2006/docPropsVTypes"/>
</file>